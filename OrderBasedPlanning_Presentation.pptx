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88952" cy="2560320"/>
          </a:xfrm>
          <a:prstGeom prst="rect">
            <a:avLst/>
          </a:prstGeom>
          <a:solidFill>
            <a:srgbClr val="10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09728" cy="2560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Order-Based Planning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29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C2FF"/>
                </a:solidFill>
              </a:rPr>
              <a:t>Intelligent Manufacturing Scheduling using Genetic Algorithm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07080"/>
                </a:solidFill>
              </a:rPr>
              <a:t>PrecisionParts Ltd. — Automotive Components Manufacturer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005840"/>
            <a:ext cx="82296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548640"/>
            <a:ext cx="82296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280160"/>
            <a:ext cx="82296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82296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0" y="502920"/>
            <a:ext cx="82296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247120" y="1463040"/>
            <a:ext cx="82296" cy="822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What challenge does Order-Based Planning solve?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17320"/>
            <a:ext cx="10360152" cy="100584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91440" cy="10058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❝  Given limited machines and materials, which orders do we produce this week — and what do we delay to minimize total penalty cost?  ❞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33472"/>
            <a:ext cx="5623560" cy="144475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724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4320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Capacity Overload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72384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Multiple orders compete for the same CNC machine or assembly bay in the same 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633472"/>
            <a:ext cx="5623560" cy="144475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2491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74320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Material Shortages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3072384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Steel rods or rubber seals run out mid-week; some orders can't be fulfilled on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87952"/>
            <a:ext cx="5623560" cy="144475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79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Promise Date Conflicts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26864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10 orders all promise delivery on May 16 — physically impossible to honour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4187952"/>
            <a:ext cx="5623560" cy="144475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42793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297680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Penalty Blind Spots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626864"/>
            <a:ext cx="4892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Delaying a VIP customer (Toyota) costs 10× more than delaying a low-priority garage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8C00"/>
                </a:solidFill>
              </a:rPr>
              <a:t>→ Manual spreadsheet planning misses interactions between orders, capacity and components.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Meet PrecisionParts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Our example: an automotive components manufacturer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0"/>
                </a:solidFill>
              </a:rPr>
              <a:t>PrecisionParts Ltd. manufactures Engine Blocks, Brake Assemblies, and Exhaust Pipes
for OEM customers. They receive ~30 orders per month across 3 factory locations.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611880" cy="32461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🔧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</a:rPr>
              <a:t>What they manufacture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72384"/>
            <a:ext cx="3246120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33756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1821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Engine Block V6 — $1,200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84048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Brake Assembly — $340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34340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187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Exhaust Pipe — $180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2286000"/>
            <a:ext cx="3611880" cy="32461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239572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🏢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76148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</a:rPr>
              <a:t>Who they sell 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53712" y="3072384"/>
            <a:ext cx="3246120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9432" y="333756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1821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Toyota → VIP priority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384048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685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Ford → High priority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9432" y="434340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187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Local Garages → Low priority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4464" y="2286000"/>
            <a:ext cx="3611880" cy="32461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67344" y="2395728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📍 Locations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2761488"/>
            <a:ext cx="3246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</a:rPr>
              <a:t>Where they produce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67344" y="3072384"/>
            <a:ext cx="3246120" cy="2743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13064" y="333756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31821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Plant A — Detroit (USA)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13064" y="384048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3685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Plant B — Stuttgart (DE)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13064" y="4343400"/>
            <a:ext cx="64008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68512" y="41879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Plant C — Chennai (IN)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6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Master data that drives the planning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749039" cy="21762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904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What is being manufactured
(code, name, price, lead 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325880"/>
            <a:ext cx="3749039" cy="21762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4904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0876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07568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Who ordered it
(priority: VIP / High / Low)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325880"/>
            <a:ext cx="3749039" cy="21762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4904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24544" y="150876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Restrictions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07568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Production resources with weekly capacity
(CNC Line, Assembly Bay, Paint Shop)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57600"/>
            <a:ext cx="3749039" cy="21762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221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404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Raw materials with weekly availability
(Steel Rods, Rubber Seals, Bolts)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657600"/>
            <a:ext cx="3749039" cy="21762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38221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38404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Sales 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440740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Customer orders with promise dates,
linked to restrictions + components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3657600"/>
            <a:ext cx="3749039" cy="21762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82219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3840480"/>
            <a:ext cx="2743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Penalty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440740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Cost per day of delay per customer priority
(VIP: $500/day, High: $200/day)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Anatomy of a Sales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How a single order connects to resources and materials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371600"/>
            <a:ext cx="4142232" cy="237744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0" y="1371600"/>
            <a:ext cx="414223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4630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SO-0001 — Toyota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8470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Product:  Engine Block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12140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Quantity: 50 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39572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Promise:  16 May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67004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Priority: VIP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9443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C4C"/>
                </a:solidFill>
              </a:rPr>
              <a:t>Penalty:  $500 / day late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3291840" cy="237744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463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⚙ Restrictions Used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29968"/>
            <a:ext cx="64008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90195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CNC Machine Line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579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3 hrs / unit  →  150 hrs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624328"/>
            <a:ext cx="64008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4963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Assembly Bay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5234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1.5 hrs / unit  →  75 hrs total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31352" y="1371600"/>
            <a:ext cx="3291840" cy="237744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146304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🔩 Components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68512" y="2011680"/>
            <a:ext cx="64008" cy="64008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190195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Steel Rods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13969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2 per unit  →  100 rods 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68512" y="2514600"/>
            <a:ext cx="64008" cy="64008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24048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Aluminum Sheet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642615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1 per unit  →  50 sheets total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3017520"/>
            <a:ext cx="64008" cy="64008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29077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Fastener Kit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314553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4 per unit  →  200 kits total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57600" y="2560320"/>
            <a:ext cx="36576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165592" y="2560320"/>
            <a:ext cx="365760" cy="0"/>
          </a:xfrm>
          <a:prstGeom prst="line">
            <a:avLst/>
          </a:prstGeom>
          <a:ln w="1905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397763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ECF0"/>
                </a:solidFill>
              </a:rPr>
              <a:t>Each order explicitly declares which machines it occupies and which materials it consumes.
The optimizer uses this to calculate weekly load across all orders simultaneously.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Optimization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Genetic Algorithm — finds the lowest-penalty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74552" cy="658368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98448"/>
            <a:ext cx="91440" cy="65836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71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For each sales order: should we process it ON its promise date, or push it out 1, 2 … 8 weeks to relieve congestion?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3749039" cy="17190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2350008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0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3500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Encode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862072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Each candidate schedule = a 'chromosome'
{SO-0001: delay 0wk, SO-0002: delay 1wk, …}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2148840"/>
            <a:ext cx="3749039" cy="17190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35424" y="2350008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350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500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Evaluate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862072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Fitness = total penalty cost
(late delivery + capacity overrun + shortage)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4464" y="2148840"/>
            <a:ext cx="3749039" cy="17190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49056" y="2350008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23500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35000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2862072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Lower-cost schedules survive
Tournament selection across 50 candidates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50791"/>
            <a:ext cx="3749039" cy="17190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" y="4251959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251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425195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Crossover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4764024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Combine two good schedules
to produce a better child schedule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4050791"/>
            <a:ext cx="3749039" cy="17190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35424" y="4251959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5424" y="4251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5195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Mutate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4764024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Randomly shift one order's week
to escape local optima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4" y="4050791"/>
            <a:ext cx="3749039" cy="1719072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49056" y="4251959"/>
            <a:ext cx="45720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4251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425195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Repeat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49056" y="4764024"/>
            <a:ext cx="3429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Evolve for 100 generations
Return the best schedule found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Penalty Cost is Calculated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The fitness function the algorithm minimises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94760" cy="50749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94760" cy="7315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55448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C4C"/>
                </a:solidFill>
              </a:rPr>
              <a:t>Late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0574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</a:rPr>
              <a:t>Per order delayed past promise 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377440"/>
            <a:ext cx="3474720" cy="2743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42616"/>
            <a:ext cx="54864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96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Delay days × penalty rate per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154680"/>
            <a:ext cx="54864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0083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VIP customer: $500/day 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66744"/>
            <a:ext cx="54864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High priority: $200/day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78807"/>
            <a:ext cx="54864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032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Low priority: $50/day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90872"/>
            <a:ext cx="54864" cy="54864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544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Example: Toyota SO-0001 delayed 7 days = $3,500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6824" y="1417320"/>
            <a:ext cx="3794760" cy="50749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06824" y="1417320"/>
            <a:ext cx="379476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1416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2" y="155448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C00"/>
                </a:solidFill>
              </a:rPr>
              <a:t>Capacity Overrun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1416" y="20574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</a:rPr>
              <a:t>When a machine is over-booked in a week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71416" y="2377440"/>
            <a:ext cx="347472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07992" y="2642616"/>
            <a:ext cx="54864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54296" y="2496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Over-usage × penalty_cost_per_unit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7992" y="3154680"/>
            <a:ext cx="54864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4296" y="30083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Soft: capacity &gt; 0 → linear penalty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7992" y="3666744"/>
            <a:ext cx="54864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4296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Hard: capacity = 0 → ×1,000,000,000 penalty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7992" y="4178807"/>
            <a:ext cx="54864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54296" y="4032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Order marked INFEASIBLE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07992" y="4690872"/>
            <a:ext cx="54864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4544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Example: CNC +40 hrs × $500 = $20,000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47888" y="1417320"/>
            <a:ext cx="3794760" cy="50749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47888" y="1417320"/>
            <a:ext cx="3794760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155448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Component Shortage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0574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7080"/>
                </a:solidFill>
              </a:rPr>
              <a:t>When stock is insufficient for a week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2377440"/>
            <a:ext cx="34747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49056" y="2642616"/>
            <a:ext cx="5486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2496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Shortage units × unit_cost ×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49056" y="3154680"/>
            <a:ext cx="5486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300837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Soft: some stock → 3× cost multiplier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49056" y="3666744"/>
            <a:ext cx="5486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0" y="3520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Hard: zero stock → ×1,000,000,000 penalty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49056" y="4178807"/>
            <a:ext cx="5486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4032504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Order marked INFEASIBLE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49056" y="4690872"/>
            <a:ext cx="54864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0" y="45445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Example: 30 rods short × $45 × 3 = $4,050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Optimization Results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What the planner sees after running the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783080" cy="120700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783080" cy="64008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C87E"/>
                </a:solidFill>
              </a:rP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CF0"/>
                </a:solidFill>
              </a:rPr>
              <a:t>On-Time Delivery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76856" y="1325880"/>
            <a:ext cx="1783080" cy="120700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76856" y="1325880"/>
            <a:ext cx="17830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6856" y="146304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C2FF"/>
                </a:solidFill>
              </a:rPr>
              <a:t>7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6856" y="201168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CF0"/>
                </a:solidFill>
              </a:rPr>
              <a:t>Orders On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325880"/>
            <a:ext cx="1783080" cy="120700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325880"/>
            <a:ext cx="1783080" cy="6400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146304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700"/>
                </a:solidFill>
              </a:rPr>
              <a:t>4.2 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201168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CF0"/>
                </a:solidFill>
              </a:rPr>
              <a:t>Avg Delay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8" y="1325880"/>
            <a:ext cx="1783080" cy="120700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1325880"/>
            <a:ext cx="1783080" cy="64008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146304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4C4C"/>
                </a:solidFill>
              </a:rPr>
              <a:t>$18,400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9048" y="201168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CF0"/>
                </a:solidFill>
              </a:rPr>
              <a:t>Total Penalty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325880"/>
            <a:ext cx="1783080" cy="120700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325880"/>
            <a:ext cx="178308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146304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8C00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01168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CF0"/>
                </a:solidFill>
              </a:rPr>
              <a:t>Capacity Violations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1325880"/>
            <a:ext cx="1783080" cy="120700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325880"/>
            <a:ext cx="178308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46304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8C00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011680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8ECF0"/>
                </a:solidFill>
              </a:rPr>
              <a:t>Component Shortages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788920"/>
            <a:ext cx="5669280" cy="148132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9260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📋 Order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29183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Per-order table: original vs optimised date, delay days, penalty, feasibility.
Click any row to see components &amp; restrictions used.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81928" y="2788920"/>
            <a:ext cx="5669280" cy="148132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8" y="29260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⚙ Capacity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3291839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Heat map of weekly machine utilisation.
Red = over capacity. Drill into each restriction.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16552"/>
            <a:ext cx="5669280" cy="148132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🔩 Component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1947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Weekly stock vs demand chart.
Shortage weeks highlighted. Sorted by demand ratio.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1928" y="4416552"/>
            <a:ext cx="5669280" cy="1481328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4808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FF"/>
                </a:solidFill>
              </a:rPr>
              <a:t>🚨 Constraint 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4919472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All violations ranked by cost.
Capacity + component + late orders in one view.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Order Results — Sample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Each row shows what changed for a sales order; click for full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141732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42646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Order #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389888"/>
            <a:ext cx="141732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0512" y="142646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389888"/>
            <a:ext cx="164592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142646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389888"/>
            <a:ext cx="82296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14264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1389888"/>
            <a:ext cx="141732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42646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Original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1389888"/>
            <a:ext cx="141732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142646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Optimised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58200" y="1389888"/>
            <a:ext cx="77724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142646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89888"/>
            <a:ext cx="91440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14264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Penalty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389888"/>
            <a:ext cx="91440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2992" y="142646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1700784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1737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SO-0001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1700784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0512" y="1737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Toyota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4680" y="1700784"/>
            <a:ext cx="16459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27832" y="173736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Engine Block V6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1700784"/>
            <a:ext cx="82296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73752" y="173736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VIP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23560" y="1700784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6712" y="1737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16 May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1700784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14032" y="173736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16 May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1700784"/>
            <a:ext cx="77724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2" y="173736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700784"/>
            <a:ext cx="91440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08592" y="1737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1700784"/>
            <a:ext cx="91440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22992" y="17373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On 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011680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204825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SO-0002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2011680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10512" y="204825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Ford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2011680"/>
            <a:ext cx="16459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27832" y="2048256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Brake Assembly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2011680"/>
            <a:ext cx="82296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73752" y="204825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2011680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96712" y="204825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16 May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2011680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4032" y="204825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23 May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58200" y="2011680"/>
            <a:ext cx="77724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1352" y="204825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+7d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2011680"/>
            <a:ext cx="91440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08592" y="20482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$1,400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2011680"/>
            <a:ext cx="91440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22992" y="204825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Delayed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2322576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SO-0003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360" y="2322576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10512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Local Garage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54680" y="2322576"/>
            <a:ext cx="16459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27832" y="23591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Exhaust Pipe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800600" y="2322576"/>
            <a:ext cx="82296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73752" y="235915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23560" y="2322576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96712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23 May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40880" y="2322576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14032" y="23591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23 May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58200" y="2322576"/>
            <a:ext cx="77724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31352" y="235915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0d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2322576"/>
            <a:ext cx="91440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08592" y="23591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149840" y="2322576"/>
            <a:ext cx="91440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22992" y="23591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On Time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2633472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93192" y="267004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SO-0004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37360" y="2633472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10512" y="267004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Toyota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54680" y="2633472"/>
            <a:ext cx="16459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27832" y="26700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Brake Assembly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00600" y="2633472"/>
            <a:ext cx="82296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73752" y="267004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VIP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23560" y="2633472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96712" y="267004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23 May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40880" y="2633472"/>
            <a:ext cx="14173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14032" y="267004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30 May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58200" y="2633472"/>
            <a:ext cx="77724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31352" y="267004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+7d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235440" y="2633472"/>
            <a:ext cx="91440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308592" y="26700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$3,500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149840" y="2633472"/>
            <a:ext cx="91440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222992" y="26700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Delayed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" y="2944368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3192" y="298094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SO-0005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737360" y="2944368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10512" y="298094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Ford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54680" y="2944368"/>
            <a:ext cx="16459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27832" y="2980944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Exhaust Pipe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800600" y="2944368"/>
            <a:ext cx="82296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73752" y="29809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623560" y="2944368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696712" y="298094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30 May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40880" y="2944368"/>
            <a:ext cx="14173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14032" y="298094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30 May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58200" y="2944368"/>
            <a:ext cx="77724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531352" y="298094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0d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35440" y="2944368"/>
            <a:ext cx="91440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308592" y="29809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$0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149840" y="2944368"/>
            <a:ext cx="91440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222992" y="298094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On Time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0040" y="3977639"/>
            <a:ext cx="11521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</a:rPr>
              <a:t>🖱  Click any row → modal shows Components Used, Restrictions Used, and Date of Processing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0400" y="4480560"/>
            <a:ext cx="5788152" cy="2011680"/>
          </a:xfrm>
          <a:prstGeom prst="rect">
            <a:avLst/>
          </a:prstGeom>
          <a:solidFill>
            <a:srgbClr val="10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00400" y="4480560"/>
            <a:ext cx="57881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37560" y="4526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 SO-0001  ×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37560" y="48920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CF0"/>
                </a:solidFill>
              </a:rPr>
              <a:t>Customer: Toyota  |  Product: Engine Block V6  |  Priority: VIP  |  Qty: 50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3756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2FF"/>
                </a:solidFill>
              </a:rPr>
              <a:t>Date of Processing: 16 May 2025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37560" y="5440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8C00"/>
                </a:solidFill>
              </a:rPr>
              <a:t>⚙ Restrictions: CNC Line A (3 hrs/unit),  Assembly Bay (1.5 hrs/unit)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37560" y="5715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C87E"/>
                </a:solidFill>
              </a:rPr>
              <a:t>🔩 Components:  Steel Rods (2/unit),  Aluminum Sheet (1/unit),  Fastener Kit (4/unit)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Capacity &amp; Component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Visual drill-down into machine load and material stock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5440680" cy="50749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⚙ Capacity Heat Map — CNC Machine Line A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2011680"/>
            <a:ext cx="713232" cy="9144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011680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56032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2A"/>
                </a:solidFill>
              </a:rPr>
              <a:t>W18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53312" y="2011680"/>
            <a:ext cx="713232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3312" y="2011680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56032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2A"/>
                </a:solidFill>
              </a:rPr>
              <a:t>W19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76272" y="2011680"/>
            <a:ext cx="713232" cy="91440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2011680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132%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56032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2A"/>
                </a:solidFill>
              </a:rPr>
              <a:t>W20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99232" y="2011680"/>
            <a:ext cx="713232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2011680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99232" y="256032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2A"/>
                </a:solidFill>
              </a:rPr>
              <a:t>W21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22191" y="2011680"/>
            <a:ext cx="713232" cy="9144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2011680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256032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2A"/>
                </a:solidFill>
              </a:rPr>
              <a:t>W22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2011680"/>
            <a:ext cx="713232" cy="914400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2011680"/>
            <a:ext cx="713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41%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560320"/>
            <a:ext cx="713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1B2A"/>
                </a:solidFill>
              </a:rPr>
              <a:t>W23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0632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ECF0"/>
                </a:solidFill>
              </a:rPr>
              <a:t>■ &lt;60% OK   ■ 60-80% Moderate   ■ 80-100% High   ■ &gt;100% Violation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456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C4C"/>
                </a:solidFill>
              </a:rPr>
              <a:t>⚠ Week 20 Violation Detail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Capacity Available:  200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069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C4C"/>
                </a:solidFill>
              </a:rPr>
              <a:t>Required:              264 hrs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Over-capacity:      +64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617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4C4C"/>
                </a:solidFill>
              </a:rPr>
              <a:t>Violation Cost:       $32,000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0292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C87E"/>
                </a:solidFill>
              </a:rPr>
              <a:t>→ Solution: optimizer delayed SO-0002 by 1 week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389888"/>
            <a:ext cx="5559552" cy="5074920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1481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🔩 Component Analysis — Steel Rods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91072" y="1965960"/>
            <a:ext cx="658368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200253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Week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1965960"/>
            <a:ext cx="96012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200253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Available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09560" y="1965960"/>
            <a:ext cx="96012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2712" y="200253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1965960"/>
            <a:ext cx="804672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42832" y="200253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Shortage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74352" y="1965960"/>
            <a:ext cx="1005840" cy="310896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47504" y="20025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91072" y="2276856"/>
            <a:ext cx="658368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64224" y="2313432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W18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276856"/>
            <a:ext cx="9601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22592" y="231343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2276856"/>
            <a:ext cx="9601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82712" y="231343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2276856"/>
            <a:ext cx="804672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42832" y="2313432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74352" y="2276856"/>
            <a:ext cx="100584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47504" y="231343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91072" y="2587752"/>
            <a:ext cx="658368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64224" y="2624328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49440" y="2587752"/>
            <a:ext cx="9601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22592" y="262432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400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9560" y="2587752"/>
            <a:ext cx="9601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82712" y="262432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69680" y="2587752"/>
            <a:ext cx="804672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2832" y="2624328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74352" y="2587752"/>
            <a:ext cx="100584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47504" y="262432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OK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91072" y="2898648"/>
            <a:ext cx="658368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64224" y="2935224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W20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9440" y="2898648"/>
            <a:ext cx="9601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22592" y="293522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09560" y="2898648"/>
            <a:ext cx="9601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82712" y="293522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340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869680" y="2898648"/>
            <a:ext cx="804672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42832" y="2935224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4C4C"/>
                </a:solidFill>
              </a:rPr>
              <a:t>✗ 140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74352" y="2898648"/>
            <a:ext cx="100584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47504" y="29352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Shortage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91072" y="3209544"/>
            <a:ext cx="658368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64224" y="3246120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W21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949440" y="3209544"/>
            <a:ext cx="9601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22592" y="324612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09560" y="3209544"/>
            <a:ext cx="96012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82712" y="324612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280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69680" y="3209544"/>
            <a:ext cx="804672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42832" y="3246120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674352" y="3209544"/>
            <a:ext cx="1005840" cy="310896"/>
          </a:xfrm>
          <a:prstGeom prst="rect">
            <a:avLst/>
          </a:prstGeom>
          <a:solidFill>
            <a:srgbClr val="1A2F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47504" y="32461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OK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91072" y="3520440"/>
            <a:ext cx="658368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64224" y="3557016"/>
            <a:ext cx="5669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W22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49440" y="3520440"/>
            <a:ext cx="9601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22592" y="35570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909560" y="3520440"/>
            <a:ext cx="96012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982712" y="35570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210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869680" y="3520440"/>
            <a:ext cx="804672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42832" y="3557016"/>
            <a:ext cx="713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674352" y="3520440"/>
            <a:ext cx="1005840" cy="310896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47504" y="35570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C87E"/>
                </a:solidFill>
              </a:rPr>
              <a:t>✓ OK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19088" y="47548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ECF0"/>
                </a:solidFill>
              </a:rPr>
              <a:t>Week 20 shortage (140 rods) caused orders using Steel Rods
to shift to Week 21 where 600 units are available.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Value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C2FF"/>
                </a:solidFill>
              </a:rPr>
              <a:t>From guesswork to an optimised, defensible production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2743200" cy="1874519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36192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2542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Schedule 30 orders in seconds
where manual planning takes hours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6976" y="1389888"/>
            <a:ext cx="2743200" cy="1874519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4136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536192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029968"/>
            <a:ext cx="2542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Simultaneously respects machines,
materials AND customer priorities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389888"/>
            <a:ext cx="2743200" cy="1874519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536192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029968"/>
            <a:ext cx="2542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Every delay explained with
exact penalty cost breakdown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9408" y="1389888"/>
            <a:ext cx="2743200" cy="1874519"/>
          </a:xfrm>
          <a:prstGeom prst="rect">
            <a:avLst/>
          </a:prstGeom>
          <a:solidFill>
            <a:srgbClr val="16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5087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536192"/>
            <a:ext cx="18745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Actionability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2029968"/>
            <a:ext cx="25420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CF0"/>
                </a:solidFill>
              </a:rPr>
              <a:t>Excel export ready for
shop floor and ERP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4930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 it works — end to 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13632"/>
            <a:ext cx="1664208" cy="804672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913632"/>
            <a:ext cx="16642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Enter
Orders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40965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76856" y="3913632"/>
            <a:ext cx="1664208" cy="80467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6856" y="3913632"/>
            <a:ext cx="16642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Set Machine
Capacities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40965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87952" y="3913632"/>
            <a:ext cx="1664208" cy="80467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87952" y="3913632"/>
            <a:ext cx="16642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Define Material
Availability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0965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8" y="3913632"/>
            <a:ext cx="1664208" cy="8046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9048" y="3913632"/>
            <a:ext cx="16642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Run
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63256" y="40965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0144" y="3913632"/>
            <a:ext cx="1664208" cy="8046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3913632"/>
            <a:ext cx="16642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Review
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40965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3913632"/>
            <a:ext cx="1664208" cy="804672"/>
          </a:xfrm>
          <a:prstGeom prst="rect">
            <a:avLst/>
          </a:prstGeom>
          <a:solidFill>
            <a:srgbClr val="1EC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3913632"/>
            <a:ext cx="16642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Export
Schedule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956048"/>
            <a:ext cx="11457432" cy="804672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956048"/>
            <a:ext cx="91440" cy="80467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04748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"Given our real constraints — what is the best possible delivery schedule, and what does the unavoidable cost look like?"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7080"/>
                </a:solidFill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